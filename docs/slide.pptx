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1" r:id="rId5"/>
    <p:sldId id="260" r:id="rId6"/>
    <p:sldId id="275" r:id="rId7"/>
    <p:sldId id="276" r:id="rId8"/>
    <p:sldId id="277" r:id="rId9"/>
    <p:sldId id="278" r:id="rId10"/>
    <p:sldId id="279" r:id="rId11"/>
    <p:sldId id="262" r:id="rId12"/>
    <p:sldId id="274" r:id="rId13"/>
    <p:sldId id="281" r:id="rId14"/>
    <p:sldId id="282" r:id="rId15"/>
    <p:sldId id="283" r:id="rId16"/>
    <p:sldId id="284" r:id="rId17"/>
    <p:sldId id="285" r:id="rId18"/>
    <p:sldId id="272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3A5F"/>
                </a:solidFill>
                <a:latin typeface="Arial"/>
              </a:rPr>
              <a:t>Hình 1. Recall trên tập test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E9E-46DA-959F-812071F0DC61}"/>
              </c:ext>
            </c:extLst>
          </c:dPt>
          <c:dPt>
            <c:idx val="1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E9E-46DA-959F-812071F0DC61}"/>
              </c:ext>
            </c:extLst>
          </c:dPt>
          <c:dPt>
            <c:idx val="2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E9E-46DA-959F-812071F0DC61}"/>
              </c:ext>
            </c:extLst>
          </c:dPt>
          <c:dPt>
            <c:idx val="3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E9E-46DA-959F-812071F0DC61}"/>
              </c:ext>
            </c:extLst>
          </c:dPt>
          <c:dPt>
            <c:idx val="4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E9E-46DA-959F-812071F0DC61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KNN</c:v>
                </c:pt>
                <c:pt idx="2">
                  <c:v>SVM</c:v>
                </c:pt>
                <c:pt idx="3">
                  <c:v>D.Tree</c:v>
                </c:pt>
                <c:pt idx="4">
                  <c:v>R.Forest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0.97619999999999996</c:v>
                </c:pt>
                <c:pt idx="1">
                  <c:v>0.85709999999999997</c:v>
                </c:pt>
                <c:pt idx="2">
                  <c:v>0.97619999999999996</c:v>
                </c:pt>
                <c:pt idx="3">
                  <c:v>0.83330000000000004</c:v>
                </c:pt>
                <c:pt idx="4">
                  <c:v>0.92859999999999998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E9E-46DA-959F-812071F0DC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3A5F"/>
                </a:solidFill>
                <a:latin typeface="Arial"/>
              </a:rPr>
              <a:t>Hình 2. F1: train và test (overfit)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9AA9BC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KNN</c:v>
                </c:pt>
                <c:pt idx="2">
                  <c:v>SVM</c:v>
                </c:pt>
                <c:pt idx="3">
                  <c:v>D.Tree</c:v>
                </c:pt>
                <c:pt idx="4">
                  <c:v>R.Forest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0.97940000000000005</c:v>
                </c:pt>
                <c:pt idx="1">
                  <c:v>0.97899999999999998</c:v>
                </c:pt>
                <c:pt idx="2">
                  <c:v>0.98509999999999998</c:v>
                </c:pt>
                <c:pt idx="3">
                  <c:v>0.95099999999999996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88-48B0-AEA5-90DEE5EABA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KNN</c:v>
                </c:pt>
                <c:pt idx="2">
                  <c:v>SVM</c:v>
                </c:pt>
                <c:pt idx="3">
                  <c:v>D.Tree</c:v>
                </c:pt>
                <c:pt idx="4">
                  <c:v>R.Forest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0.98799999999999999</c:v>
                </c:pt>
                <c:pt idx="1">
                  <c:v>0.91139999999999999</c:v>
                </c:pt>
                <c:pt idx="2">
                  <c:v>0.98799999999999999</c:v>
                </c:pt>
                <c:pt idx="3">
                  <c:v>0.86419999999999997</c:v>
                </c:pt>
                <c:pt idx="4">
                  <c:v>0.96299999999999997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88-48B0-AEA5-90DEE5EABA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05"/>
          <c:min val="0.8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3A5F"/>
                </a:solidFill>
                <a:latin typeface="Arial"/>
              </a:rPr>
              <a:t>Hình 3. Độ lệch chuẩn CV F1 (thấp = ổn định)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Std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7C-4B8A-B286-F454CBA1AF6F}"/>
              </c:ext>
            </c:extLst>
          </c:dPt>
          <c:dPt>
            <c:idx val="1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7C-4B8A-B286-F454CBA1AF6F}"/>
              </c:ext>
            </c:extLst>
          </c:dPt>
          <c:dPt>
            <c:idx val="2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7C-4B8A-B286-F454CBA1AF6F}"/>
              </c:ext>
            </c:extLst>
          </c:dPt>
          <c:dPt>
            <c:idx val="3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7C-4B8A-B286-F454CBA1AF6F}"/>
              </c:ext>
            </c:extLst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7C-4B8A-B286-F454CBA1AF6F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KNN</c:v>
                </c:pt>
                <c:pt idx="2">
                  <c:v>SVM</c:v>
                </c:pt>
                <c:pt idx="3">
                  <c:v>D.Tree</c:v>
                </c:pt>
                <c:pt idx="4">
                  <c:v>R.Forest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1.12E-2</c:v>
                </c:pt>
                <c:pt idx="1">
                  <c:v>2.5000000000000001E-2</c:v>
                </c:pt>
                <c:pt idx="2">
                  <c:v>1.1599999999999999E-2</c:v>
                </c:pt>
                <c:pt idx="3">
                  <c:v>2.9700000000000001E-2</c:v>
                </c:pt>
                <c:pt idx="4">
                  <c:v>1.7500000000000002E-2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D7C-4B8A-B286-F454CBA1AF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5000000000000003E-2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vi-VN" sz="1200" b="0" i="0" u="none" strike="noStrike">
                <a:solidFill>
                  <a:srgbClr val="1F3A5F"/>
                </a:solidFill>
                <a:latin typeface="Arial"/>
              </a:rPr>
              <a:t>Hình 4. Kích thước file model (KB)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KB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D79-4007-8359-2B01DF78B877}"/>
              </c:ext>
            </c:extLst>
          </c:dPt>
          <c:dPt>
            <c:idx val="1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79-4007-8359-2B01DF78B877}"/>
              </c:ext>
            </c:extLst>
          </c:dPt>
          <c:dPt>
            <c:idx val="2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79-4007-8359-2B01DF78B877}"/>
              </c:ext>
            </c:extLst>
          </c:dPt>
          <c:dPt>
            <c:idx val="3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D79-4007-8359-2B01DF78B877}"/>
              </c:ext>
            </c:extLst>
          </c:dPt>
          <c:dPt>
            <c:idx val="4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D79-4007-8359-2B01DF78B87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KNN</c:v>
                </c:pt>
                <c:pt idx="2">
                  <c:v>SVM</c:v>
                </c:pt>
                <c:pt idx="3">
                  <c:v>D.Tree</c:v>
                </c:pt>
                <c:pt idx="4">
                  <c:v>R.Forest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102.3</c:v>
                </c:pt>
                <c:pt idx="2">
                  <c:v>16.600000000000001</c:v>
                </c:pt>
                <c:pt idx="3">
                  <c:v>3.2</c:v>
                </c:pt>
                <c:pt idx="4">
                  <c:v>89.4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D79-4007-8359-2B01DF78B8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3A5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F3A5F"/>
                </a:solidFill>
                <a:latin typeface="Arial"/>
              </a:rPr>
              <a:t>Hình 5. Thời gian dự đoán (ms/mẫu)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4E-460D-86DE-340B4C4990ED}"/>
              </c:ext>
            </c:extLst>
          </c:dPt>
          <c:dPt>
            <c:idx val="1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4E-460D-86DE-340B4C4990ED}"/>
              </c:ext>
            </c:extLst>
          </c:dPt>
          <c:dPt>
            <c:idx val="2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D4E-460D-86DE-340B4C4990ED}"/>
              </c:ext>
            </c:extLst>
          </c:dPt>
          <c:dPt>
            <c:idx val="3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D4E-460D-86DE-340B4C4990ED}"/>
              </c:ext>
            </c:extLst>
          </c:dPt>
          <c:dPt>
            <c:idx val="4"/>
            <c:invertIfNegative val="0"/>
            <c:bubble3D val="0"/>
            <c:spPr>
              <a:solidFill>
                <a:srgbClr val="9AA9B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D4E-460D-86DE-340B4C4990ED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LogReg</c:v>
                </c:pt>
                <c:pt idx="1">
                  <c:v>KNN</c:v>
                </c:pt>
                <c:pt idx="2">
                  <c:v>SVM</c:v>
                </c:pt>
                <c:pt idx="3">
                  <c:v>D.Tree</c:v>
                </c:pt>
                <c:pt idx="4">
                  <c:v>R.Forest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2.9000000000000001E-2</c:v>
                </c:pt>
                <c:pt idx="1">
                  <c:v>3.5999999999999997E-2</c:v>
                </c:pt>
                <c:pt idx="2">
                  <c:v>2.8000000000000001E-2</c:v>
                </c:pt>
                <c:pt idx="3">
                  <c:v>3.2000000000000001E-2</c:v>
                </c:pt>
                <c:pt idx="4">
                  <c:v>0.33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D4E-460D-86DE-340B4C4990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1547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Chẩn đoán ung thư vú</a:t>
            </a:r>
            <a:endParaRPr lang="en-US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3F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 loại khối u lành tính / ác tính bằng Machine Learning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Dữ liệu: Breast Cancer Wisconsin (Diagnostic) · 569 mẫu · 30 đặc trưng · phân loại nhị phân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GVHD: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ThS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Đức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Tuấn</a:t>
            </a:r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Anh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15CE-1895-4F83-BC31-134F796AF584}"/>
              </a:ext>
            </a:extLst>
          </p:cNvPr>
          <p:cNvSpPr txBox="1"/>
          <p:nvPr/>
        </p:nvSpPr>
        <p:spPr>
          <a:xfrm>
            <a:off x="432524" y="3598148"/>
            <a:ext cx="63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Bùi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Huy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Vĩnh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Phúc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12523W.2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Bài toán cụ thể: chẩn đoán ung thư vú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Phân biệt khối u ác tính với lành tính giúp phát hiện sớm và tăng cơ hội điều trị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Dữ liệu tính từ ảnh chọc hút tế bào bằng kim nhỏ (FNA); mỗi mẫu mô tả đặc điểm nhân tế bào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 đại lượng (bán kính, kết cấu, chu vi, diện tích, độ trơn, độ đặc, độ lõm, số điểm lõm, đối xứng, chiều fractal) × 3 dạng (mean, se, worst) = 30 đặc trưng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569 mẫu: 357 lành tính (B), 212 ác tính (M)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0" y="1097280"/>
            <a:ext cx="3200400" cy="3108960"/>
          </a:xfrm>
          <a:prstGeom prst="roundRect">
            <a:avLst>
              <a:gd name="adj" fmla="val 2353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23560" y="118872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Đầu vào → đầu ra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Đầu vào: 30 đặc trưng số của khối u.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Đầu ra: B (lành tính) hoặc M (ác tính) kèm xác suất.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Loại bài toán: phân loại nhị phân.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Mục tiêu: bỏ sót ít ca ác tính nhất (Recall cao).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 trình tổng thể của bài tập lớn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Dữ liệu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64592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83464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3464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Xử lý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2336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2336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Huấn luyện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1208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1208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Đánh giá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1F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Đóng gói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589520" y="1280160"/>
            <a:ext cx="1051560" cy="822960"/>
          </a:xfrm>
          <a:prstGeom prst="roundRect">
            <a:avLst>
              <a:gd name="adj" fmla="val 8889"/>
            </a:avLst>
          </a:prstGeom>
          <a:solidFill>
            <a:srgbClr val="2A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589520" y="1280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Triển khai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57200" y="25603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Đầu ra của bước này là đầu vào của bước sau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dataset.zip → hình EDA và quyết định xử lý → pipeline và schema.json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5 model đã tinh chỉnh → bảng metric và model được chọn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 model.joblib và metadata.json → app chạy Docker, public để test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Khái niệm quan trọng khi xử lý dữ liệu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Chuẩn hóa (StandardScaler)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z = (x − trung bình) / độ lệch chuẩn. Đưa các cột về cùng thang đo. KNN, SVM, Logistic cần; cây không cần.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00600" y="11887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Rò rỉ dữ liệu (data leakage)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Thông tin từ tập test lọt vào lúc huấn luyện làm kết quả đẹp giả. Cách tránh: chia trước, chỉ fit scaler trên train.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9260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Chia stratify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Giữ nguyên tỉ lệ lớp (63% lành / 37% ác) ở cả train và test, nên đánh giá ổn định. random_state cố định để lặp lại được.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92608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GridSearchCV và Pipeline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Thử lưới siêu tham số bằng 5-fold trên train. Pipeline gói imputer + scaler + model để tiền xử lý lúc dự đoán giống hệt lúc huấn luyện.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 1. Phân bố biến mục tiêu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179059311960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960120"/>
            <a:ext cx="4407408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601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thấy gì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357 mẫu lành tính (B) và 212 mẫu ác tính (M), tức 62,7% và 37,3%.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Ý nghĩa với bài toán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Lệch lớp nhẹ. Model đoán toàn 'lành tính' vẫn đạt ~63% Accuracy nhưng bỏ sót mọi ca ác tính.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Quyết định xử lý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Chia dữ liệu stratify, dùng Recall và F1 thay vì chỉ Accuracy, đặt class_weight=balanced.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 2. Phân bố các biến số (_mean)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179059313595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06424"/>
            <a:ext cx="4846320" cy="34472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601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thấy gì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area_mean, concavity_mean, concave points_mean lệch phải mạnh (dồn về giá trị nhỏ, đuôi dài). texture, smoothness, symmetry gần đối xứng.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Ý nghĩa với bài toán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Thang đo rất khác nhau: area_mean tới ~2500, smoothness_mean chỉ ~0.05 đến 0.16. Có ngoại lai bên phải.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Quyết định xử lý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Chuẩn hóa StandardScaler cho KNN, SVM, Logistic. Giữ ngoại lai vì nhiều ca thuộc nhóm ác tính (Hình 5).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 3. Bản đồ dữ liệu thiếu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179059314617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9304"/>
            <a:ext cx="4846320" cy="30998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601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thấy gì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Toàn bộ 569 dòng của mọi cột đều cùng một màu: không có ô thiếu nào.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Ý nghĩa với bài toán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Dữ liệu sạch, không cần điền giá trị thiếu hay loại bỏ dòng.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Quyết định xử lý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Vẫn giữ SimpleImputer (median) trong pipeline để an toàn khi người dùng bỏ trống ô trên form.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 4. Ma trận tương quan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179059315335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960120"/>
            <a:ext cx="4242816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601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thấy gì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radius, perimeter, area (mean và worst) tương quan gần 1 với nhau. Với target, đỏ đậm nhất là concave points_worst, perimeter_worst, radius_worst. fractal_dimension_mean, texture_se, smoothness_se gần 0.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Ý nghĩa với bài toán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Nhiều cột trùng thông tin (đa cộng tuyến): hệ số Logistic/SVM kém ổn định, cây ít bị ảnh hưởng.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Quyết định xử lý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Giữ đủ 30 cột để schema thống nhất; nêu rõ hạn chế này khi giải thích model tuyến tính.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 5. Đặc trưng theo lớp (boxplot)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179059317669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53896"/>
            <a:ext cx="4846320" cy="27523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601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thấy gì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Trung vị nhóm M cao hơn B rõ rệt: radius_worst ≈ 20.6 so với ≈ 13.4 (gấp ~1.5), area_worst ≈ 1300 so với ≈ 550. Hộp radius/perimeter/area_worst gần như không chồng nhau.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Ý nghĩa với bài toán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Kích thước và độ lõm của nhân tế bào phân biệt tốt hai lớp; nhóm _worst và concave points mạnh nhất.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Quyết định xử lý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Kỳ vọng các model đạt Recall và F1 cao; các ca ngoại lai là chỗ model dễ sai.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Hình 6. Pairplot các đặc trưng chính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/mnt/user-data/uploads/179059319521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960120"/>
            <a:ext cx="4078224" cy="3749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960120"/>
            <a:ext cx="33832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Cho thấy gì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radius_mean và area_mean gần như một đường cong (area ≈ π·r²). Ở cặp radius–concavity, nhóm M nằm phía trên bên phải, B phía dưới bên trái. texture_mean chồng lấn nhiều.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Ý nghĩa với bài toán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Ranh giới hai lớp gần tuyến tính, chỉ có vùng chồng lấn nhỏ; từng đặc trưng riêng lẻ (texture) tách yếu.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Quyết định xử lý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Thử cả model tuyến tính (Logistic) và phi tuyến (SVM, cây, KNN); giải thích vì sao Logistic đủ tốt.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Xử lý dữ liệu và 5 model đã so sánh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Quy trình (chống rò rỉ dữ liệu)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Bỏ cột id và cột rỗng, mã hóa nhãn B=0, M=1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Chia 80/20, stratify, random_state=42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Pipeline: Imputer (median) rồi StandardScaler, chỉ fit trên tập train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GridSearchCV 5-fold trên train; tập test dùng đúng một lần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class_weight=balanced để bù lệch lớp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754880" y="1097280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(cùng dữ liệu, cùng metric)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Regression: baseline, tuyến tính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KNN: dựa trên khoảng cách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 (RBF): biên lề lớn nhất, kernel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Decision Tree: chia theo ngưỡng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Forest: ensemble (bagging)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 trọng tâm: Recall lớp ác tính (bỏ sót ung thư nguy hiểm hơn báo nhầm)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8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Metric đánh giá: vì sao chọn Recall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457200" y="1188720"/>
          <a:ext cx="3840480" cy="1645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đoán lành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Dự đoán ác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Thật lành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(đúng)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(báo nhầm)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Thật ác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(bỏ sót)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(đúng)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152503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FN nguy hiểm hơn FP: bỏ sót ung thư nghĩa là bệnh nhân không được điều trị kịp, còn báo nhầm chỉ dẫn tới xét nghiệm thêm.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0" y="1195977"/>
            <a:ext cx="4114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 = (TP+TN) / tổng: dễ đánh lừa khi lệch lớp (đoán toàn lành đã ~63%)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Precision = TP / (TP+FP): trong các ca đoán ác, bao nhiêu đúng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Recall = TP / (TP+FN): trong các ca ác thật, phát hiện được bao nhiêu (trọng tâm)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F1 = 2PR / (P+R): cân bằng Precision và Recall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ROC-AUC: khả năng phân biệt hai lớp bất kể ngưỡng (1 là hoàn hảo, 0.5 là ngẫu nhiên)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Ưu </a:t>
            </a:r>
            <a:r>
              <a:rPr lang="en-US" sz="2600" b="1" dirty="0" err="1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nhược</a:t>
            </a: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điểm</a:t>
            </a: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model (1/2): độ chính xác và ổn định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606383840"/>
              </p:ext>
            </p:extLst>
          </p:nvPr>
        </p:nvGraphicFramePr>
        <p:xfrm>
          <a:off x="365760" y="100584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3667615232"/>
              </p:ext>
            </p:extLst>
          </p:nvPr>
        </p:nvGraphicFramePr>
        <p:xfrm>
          <a:off x="3200400" y="1005840"/>
          <a:ext cx="2834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66594768"/>
              </p:ext>
            </p:extLst>
          </p:nvPr>
        </p:nvGraphicFramePr>
        <p:xfrm>
          <a:off x="6126480" y="1005840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và SVM đạt Recall cao nhất và ổn định nhất. Decision Tree, KNN, Random Forest có Train F1 cao hơn Test F1 rõ rệt (overfit).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Ưu </a:t>
            </a:r>
            <a:r>
              <a:rPr lang="en-US" sz="2600" b="1" dirty="0" err="1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nhược</a:t>
            </a: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</a:t>
            </a:r>
            <a:r>
              <a:rPr lang="en-US" sz="2600" b="1" dirty="0" err="1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điểm</a:t>
            </a: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model (2/2): chi phí triển khai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834929156"/>
              </p:ext>
            </p:extLst>
          </p:nvPr>
        </p:nvGraphicFramePr>
        <p:xfrm>
          <a:off x="457200" y="100584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4224111893"/>
              </p:ext>
            </p:extLst>
          </p:nvPr>
        </p:nvGraphicFramePr>
        <p:xfrm>
          <a:off x="4754880" y="1005840"/>
          <a:ext cx="39319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KNN phải lưu cả dữ liệu train nên file lớn nhất; Random Forest chậm nhất (gấp ~10 lần). Logistic Regression nhẹ nhất, chỉ 2.4 KB.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Tổng hợp ưu nhược điểm 5 model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Table 0"/>
          <p:cNvGraphicFramePr>
            <a:graphicFrameLocks noGrp="1"/>
          </p:cNvGraphicFramePr>
          <p:nvPr/>
        </p:nvGraphicFramePr>
        <p:xfrm>
          <a:off x="457200" y="1097280"/>
          <a:ext cx="8229600" cy="340156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Ưu điểm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Nhược điểm chính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 bài này?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Nhanh, nhẹ, dễ giải thích, cho xác suất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biên tuyến tính, nhạy đa cộng tuyến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Rất phù hợp: được chọn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giản, bắt được biên phi tuyến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102 KB, chậm khi dữ liệu lớn, nhạy thang đo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Không: Recall 0.857, overfit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Mạnh với nhiều chiều, lề lớn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giải thích, nhạy C và gamma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 nhưng không hơn Logistic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hiểu, không cần chuẩn hóa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Dễ overfit, kém ổn định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Không: Recall 0.833 thấp nhất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 overfit, chịu nhiễu tốt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lớn, chậm nhất, khó giải thích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Không: Train F1 = 1.0, Recall 0.929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được chọn: Logistic Regression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Table 0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quả nổi bật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Vì sao (không) phù hợp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0.976 · F1 0.988 · 2.4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Chọn: không overfit, nhẹ nhất, dễ giải thích qua hệ số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(RBF)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0.976 · F1 0.988 · 16.6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Ngang Logistic nhưng file gấp ~7 lần, khó giải thích (kernel)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0.929 · Train F1 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Overfit, chậm nhất (0.33 ms), file 89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0.857 · K=3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sót nhiều ca ác tính, overfit, file 102 KB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0.833 · CV std 0.030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thấp nhất, kém ổn định, chênh train–test lớn nhất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 model phức tạp nào vượt được baseline: dữ liệu gần tách tuyến tính, nên model đơn giản đã đủ tốt.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Vì sao chọn Logistic Regression: 5 tiêu chí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So với baseline: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không model nào vượt được. SVM ngang (F1 0.988), Random Forest 0.963, KNN 0.911, Decision Tree 0.864.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Overfitting: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và SVM không overfit (Train 0.979 → Test 0.988). Chênh Train − Test: Decision Tree 0.087, KNN 0.068, Random Forest 0.037.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Ý nghĩa của lỗi: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bỏ sót ung thư (FN) nguy hiểm hơn, nên ưu tiên Recall. Logistic và SVM cao nhất (0.976).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Độ ổn định: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độ lệch chuẩn CV F1 của Logistic nhỏ nhất (0.0112), SVM 0.0116, KNN 0.025, Decision Tree 0.030.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Triển khai và giải thích: </a:t>
            </a:r>
            <a:r>
              <a:rPr lang="en-US" sz="13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file 2.4 KB (SVM 16.6 KB), dự đoán 0.029 ms, mỗi đặc trưng có một hệ số dễ giải thích.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76F5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SVM có CV F1 nhỉnh hơn (0.973 so với 0.967) nhưng chênh lệch nhỏ hơn độ lệch chuẩn (~0.012), nên chưa đủ khẳng định SVM tốt hơn. Khi hiệu năng ngang nhau, chọn model đơn giản hơn.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Đóng gói, triển khai và demo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Frontend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 dựng từ schema.json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Backend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Kiểm tra dữ liệu, lưu lịch sử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 Service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309360" y="1554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Nạp model.joblib lúc khởi động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83464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5760720" y="1325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9D8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→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model.joblib chứa cả pipeline + model, nằm ở ai-models/models/; export từ Colab rồi commit lên Git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Ghim scikit-learn / numpy / pandas trong requirements.txt để khớp Colab và Docker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Mỗi khối một container Docker, nối bằng docker-compose; địa chỉ đọc từ .env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Kiểm tra bằng docker compose ps, GET /health, GET /model-info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 có request_id đi xuyên FE → BE → AI Service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07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Kết luận, hạn chế và hướng phát triển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Kết luận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Đã so sánh 5 model cùng dữ liệu, cùng metric. Logistic Regression được chọn: Recall 0.976, F1 0.988, file 2.4 KB. Không model phức tạp nào vượt được baseline.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4612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383280" y="118872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Hạn chế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Tập test chỉ 114 mẫu: sai một ca lệch Recall ~2.4%. Dữ liệu từ một nguồn. Công cụ chỉ hỗ trợ, không thay thế chẩn đoán của bác sĩ.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035040" y="109728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A"/>
          </a:solidFill>
          <a:ln w="12700">
            <a:solidFill>
              <a:srgbClr val="9AA9B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18872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Hướng phát triển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Thêm dữ liệu và kiểm chứng ngoài. Thử Boosting, Naive Bayes. Hiệu chỉnh ngưỡng để tăng Recall. Theo dõi model khi chạy thật.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2287</Words>
  <Application>Microsoft Office PowerPoint</Application>
  <PresentationFormat>On-screen Show (16:9)</PresentationFormat>
  <Paragraphs>211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6</cp:revision>
  <dcterms:created xsi:type="dcterms:W3CDTF">2026-09-28T10:44:09Z</dcterms:created>
  <dcterms:modified xsi:type="dcterms:W3CDTF">2026-09-28T11:16:19Z</dcterms:modified>
</cp:coreProperties>
</file>